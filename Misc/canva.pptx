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embeddedFontLst>
    <p:embeddedFont>
      <p:font typeface="Poppins Bold" charset="1" panose="00000800000000000000"/>
      <p:regular r:id="rId8"/>
    </p:embeddedFont>
    <p:embeddedFont>
      <p:font typeface="Poppins Italics" charset="1" panose="000005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84988" y="777373"/>
            <a:ext cx="482955" cy="470278"/>
          </a:xfrm>
          <a:custGeom>
            <a:avLst/>
            <a:gdLst/>
            <a:ahLst/>
            <a:cxnLst/>
            <a:rect r="r" b="b" t="t" l="l"/>
            <a:pathLst>
              <a:path h="470278" w="482955">
                <a:moveTo>
                  <a:pt x="0" y="0"/>
                </a:moveTo>
                <a:lnTo>
                  <a:pt x="482956" y="0"/>
                </a:lnTo>
                <a:lnTo>
                  <a:pt x="482956" y="470278"/>
                </a:lnTo>
                <a:lnTo>
                  <a:pt x="0" y="4702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203558" y="706508"/>
            <a:ext cx="2132527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</a:pPr>
            <a:r>
              <a:rPr lang="en-US" b="true" sz="2700" spc="-140">
                <a:gradFill>
                  <a:gsLst>
                    <a:gs pos="0">
                      <a:srgbClr val="555555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Poppins Bold"/>
                <a:ea typeface="Poppins Bold"/>
                <a:cs typeface="Poppins Bold"/>
                <a:sym typeface="Poppins Bold"/>
              </a:rPr>
              <a:t>ArogyaYatra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698197" y="1907969"/>
            <a:ext cx="6637888" cy="7507806"/>
            <a:chOff x="0" y="0"/>
            <a:chExt cx="682905" cy="7724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2905" cy="772402"/>
            </a:xfrm>
            <a:custGeom>
              <a:avLst/>
              <a:gdLst/>
              <a:ahLst/>
              <a:cxnLst/>
              <a:rect r="r" b="b" t="t" l="l"/>
              <a:pathLst>
                <a:path h="772402" w="682905">
                  <a:moveTo>
                    <a:pt x="102636" y="0"/>
                  </a:moveTo>
                  <a:lnTo>
                    <a:pt x="580268" y="0"/>
                  </a:lnTo>
                  <a:cubicBezTo>
                    <a:pt x="636953" y="0"/>
                    <a:pt x="682905" y="45952"/>
                    <a:pt x="682905" y="102636"/>
                  </a:cubicBezTo>
                  <a:lnTo>
                    <a:pt x="682905" y="669765"/>
                  </a:lnTo>
                  <a:cubicBezTo>
                    <a:pt x="682905" y="696986"/>
                    <a:pt x="672091" y="723092"/>
                    <a:pt x="652843" y="742340"/>
                  </a:cubicBezTo>
                  <a:cubicBezTo>
                    <a:pt x="633595" y="761588"/>
                    <a:pt x="607489" y="772402"/>
                    <a:pt x="580268" y="772402"/>
                  </a:cubicBezTo>
                  <a:lnTo>
                    <a:pt x="102636" y="772402"/>
                  </a:lnTo>
                  <a:cubicBezTo>
                    <a:pt x="75416" y="772402"/>
                    <a:pt x="49310" y="761588"/>
                    <a:pt x="30062" y="742340"/>
                  </a:cubicBezTo>
                  <a:cubicBezTo>
                    <a:pt x="10813" y="723092"/>
                    <a:pt x="0" y="696986"/>
                    <a:pt x="0" y="669765"/>
                  </a:cubicBezTo>
                  <a:lnTo>
                    <a:pt x="0" y="102636"/>
                  </a:lnTo>
                  <a:cubicBezTo>
                    <a:pt x="0" y="75416"/>
                    <a:pt x="10813" y="49310"/>
                    <a:pt x="30062" y="30062"/>
                  </a:cubicBezTo>
                  <a:cubicBezTo>
                    <a:pt x="49310" y="10813"/>
                    <a:pt x="75416" y="0"/>
                    <a:pt x="102636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4660" r="0" b="-4660"/>
              </a:stretch>
            </a:blipFill>
            <a:ln w="38100" cap="rnd">
              <a:gradFill>
                <a:gsLst>
                  <a:gs pos="0">
                    <a:srgbClr val="555555">
                      <a:alpha val="100000"/>
                    </a:srgbClr>
                  </a:gs>
                  <a:gs pos="100000">
                    <a:srgbClr val="000000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20713" y="410886"/>
            <a:ext cx="8710914" cy="1795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69"/>
              </a:lnSpc>
            </a:pPr>
            <a:r>
              <a:rPr lang="en-US" b="true" sz="5049" spc="-262">
                <a:gradFill>
                  <a:gsLst>
                    <a:gs pos="0">
                      <a:srgbClr val="555555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Poppins Bold"/>
                <a:ea typeface="Poppins Bold"/>
                <a:cs typeface="Poppins Bold"/>
                <a:sym typeface="Poppins Bold"/>
              </a:rPr>
              <a:t>ArogyaYatra Existing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0713" y="2632708"/>
            <a:ext cx="8257413" cy="954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sz="1798" i="true" spc="-93">
                <a:solidFill>
                  <a:srgbClr val="868686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Role-based Next.js UI with dedicated portals for Home, Admin, Patient, Nurse, Pharmacist, and Developer roles. Shared UI components and persistent chat sidebar provide consistent user experience across all interfaces.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0713" y="3666691"/>
            <a:ext cx="8257413" cy="954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sz="1798" i="true" spc="-93">
                <a:solidFill>
                  <a:srgbClr val="868686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The /api/chat API layer connects to the Care Context Loader, which feeds the Chat Orchestrator. Specialist tool-style agents handle domain-specific tasks while the Deterministic Policy Engine ensures compliance and safety.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20713" y="5445339"/>
            <a:ext cx="5726105" cy="3511985"/>
            <a:chOff x="0" y="0"/>
            <a:chExt cx="1508110" cy="9249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08110" cy="924967"/>
            </a:xfrm>
            <a:custGeom>
              <a:avLst/>
              <a:gdLst/>
              <a:ahLst/>
              <a:cxnLst/>
              <a:rect r="r" b="b" t="t" l="l"/>
              <a:pathLst>
                <a:path h="924967" w="1508110">
                  <a:moveTo>
                    <a:pt x="68954" y="0"/>
                  </a:moveTo>
                  <a:lnTo>
                    <a:pt x="1439156" y="0"/>
                  </a:lnTo>
                  <a:cubicBezTo>
                    <a:pt x="1457444" y="0"/>
                    <a:pt x="1474982" y="7265"/>
                    <a:pt x="1487914" y="20196"/>
                  </a:cubicBezTo>
                  <a:cubicBezTo>
                    <a:pt x="1500845" y="33128"/>
                    <a:pt x="1508110" y="50666"/>
                    <a:pt x="1508110" y="68954"/>
                  </a:cubicBezTo>
                  <a:lnTo>
                    <a:pt x="1508110" y="856013"/>
                  </a:lnTo>
                  <a:cubicBezTo>
                    <a:pt x="1508110" y="874301"/>
                    <a:pt x="1500845" y="891840"/>
                    <a:pt x="1487914" y="904771"/>
                  </a:cubicBezTo>
                  <a:cubicBezTo>
                    <a:pt x="1474982" y="917702"/>
                    <a:pt x="1457444" y="924967"/>
                    <a:pt x="1439156" y="924967"/>
                  </a:cubicBezTo>
                  <a:lnTo>
                    <a:pt x="68954" y="924967"/>
                  </a:lnTo>
                  <a:cubicBezTo>
                    <a:pt x="50666" y="924967"/>
                    <a:pt x="33128" y="917702"/>
                    <a:pt x="20196" y="904771"/>
                  </a:cubicBezTo>
                  <a:cubicBezTo>
                    <a:pt x="7265" y="891840"/>
                    <a:pt x="0" y="874301"/>
                    <a:pt x="0" y="856013"/>
                  </a:cubicBezTo>
                  <a:lnTo>
                    <a:pt x="0" y="68954"/>
                  </a:lnTo>
                  <a:cubicBezTo>
                    <a:pt x="0" y="50666"/>
                    <a:pt x="7265" y="33128"/>
                    <a:pt x="20196" y="20196"/>
                  </a:cubicBezTo>
                  <a:cubicBezTo>
                    <a:pt x="33128" y="7265"/>
                    <a:pt x="50666" y="0"/>
                    <a:pt x="68954" y="0"/>
                  </a:cubicBezTo>
                  <a:close/>
                </a:path>
              </a:pathLst>
            </a:custGeom>
            <a:solidFill>
              <a:srgbClr val="BC4445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508110" cy="963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015768" y="5445339"/>
            <a:ext cx="5726105" cy="3511985"/>
            <a:chOff x="0" y="0"/>
            <a:chExt cx="1508110" cy="9249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08110" cy="924967"/>
            </a:xfrm>
            <a:custGeom>
              <a:avLst/>
              <a:gdLst/>
              <a:ahLst/>
              <a:cxnLst/>
              <a:rect r="r" b="b" t="t" l="l"/>
              <a:pathLst>
                <a:path h="924967" w="1508110">
                  <a:moveTo>
                    <a:pt x="68954" y="0"/>
                  </a:moveTo>
                  <a:lnTo>
                    <a:pt x="1439156" y="0"/>
                  </a:lnTo>
                  <a:cubicBezTo>
                    <a:pt x="1457444" y="0"/>
                    <a:pt x="1474982" y="7265"/>
                    <a:pt x="1487914" y="20196"/>
                  </a:cubicBezTo>
                  <a:cubicBezTo>
                    <a:pt x="1500845" y="33128"/>
                    <a:pt x="1508110" y="50666"/>
                    <a:pt x="1508110" y="68954"/>
                  </a:cubicBezTo>
                  <a:lnTo>
                    <a:pt x="1508110" y="856013"/>
                  </a:lnTo>
                  <a:cubicBezTo>
                    <a:pt x="1508110" y="874301"/>
                    <a:pt x="1500845" y="891840"/>
                    <a:pt x="1487914" y="904771"/>
                  </a:cubicBezTo>
                  <a:cubicBezTo>
                    <a:pt x="1474982" y="917702"/>
                    <a:pt x="1457444" y="924967"/>
                    <a:pt x="1439156" y="924967"/>
                  </a:cubicBezTo>
                  <a:lnTo>
                    <a:pt x="68954" y="924967"/>
                  </a:lnTo>
                  <a:cubicBezTo>
                    <a:pt x="50666" y="924967"/>
                    <a:pt x="33128" y="917702"/>
                    <a:pt x="20196" y="904771"/>
                  </a:cubicBezTo>
                  <a:cubicBezTo>
                    <a:pt x="7265" y="891840"/>
                    <a:pt x="0" y="874301"/>
                    <a:pt x="0" y="856013"/>
                  </a:cubicBezTo>
                  <a:lnTo>
                    <a:pt x="0" y="68954"/>
                  </a:lnTo>
                  <a:cubicBezTo>
                    <a:pt x="0" y="50666"/>
                    <a:pt x="7265" y="33128"/>
                    <a:pt x="20196" y="20196"/>
                  </a:cubicBezTo>
                  <a:cubicBezTo>
                    <a:pt x="33128" y="7265"/>
                    <a:pt x="50666" y="0"/>
                    <a:pt x="68954" y="0"/>
                  </a:cubicBezTo>
                  <a:close/>
                </a:path>
              </a:pathLst>
            </a:custGeom>
            <a:solidFill>
              <a:srgbClr val="F5F1EE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508110" cy="963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350760" y="5710984"/>
            <a:ext cx="3472588" cy="70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31"/>
              </a:lnSpc>
            </a:pPr>
            <a:r>
              <a:rPr lang="en-US" b="true" sz="3879" spc="-201">
                <a:solidFill>
                  <a:srgbClr val="F5F1EE"/>
                </a:solidFill>
                <a:latin typeface="Poppins Bold"/>
                <a:ea typeface="Poppins Bold"/>
                <a:cs typeface="Poppins Bold"/>
                <a:sym typeface="Poppins Bold"/>
              </a:rPr>
              <a:t>Core Flow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41832" y="5710984"/>
            <a:ext cx="3472588" cy="70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31"/>
              </a:lnSpc>
            </a:pPr>
            <a:r>
              <a:rPr lang="en-US" b="true" sz="3879" spc="-201">
                <a:gradFill>
                  <a:gsLst>
                    <a:gs pos="0">
                      <a:srgbClr val="555555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Poppins Bold"/>
                <a:ea typeface="Poppins Bold"/>
                <a:cs typeface="Poppins Bold"/>
                <a:sym typeface="Poppins Bold"/>
              </a:rPr>
              <a:t>Safety Layer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50760" y="6674240"/>
            <a:ext cx="4833092" cy="1268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sz="1798" i="true" spc="-93">
                <a:solidFill>
                  <a:srgbClr val="F5F1EE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UI → /api/chat → Care Context Loader → Chat Orchestrator → Specialist Agents → Structured Response back to UI. Each request flows through deterministic routing.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441832" y="6674240"/>
            <a:ext cx="4833092" cy="1897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sz="1798" i="true" spc="-93">
                <a:solidFill>
                  <a:srgbClr val="868686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Reviewer Layer validates all agent outputs before delivery. Deterministic Policy Engine enforces clinical guidelines and role-based access controls.</a:t>
            </a:r>
          </a:p>
          <a:p>
            <a:pPr algn="l" marL="0" indent="0" lvl="0">
              <a:lnSpc>
                <a:spcPts val="2518"/>
              </a:lnSpc>
            </a:pPr>
            <a:r>
              <a:rPr lang="en-US" sz="1798" i="true" spc="-93">
                <a:solidFill>
                  <a:srgbClr val="868686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Current state is deterministic, role-aware, and safe by design.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91917" y="777220"/>
            <a:ext cx="468889" cy="468889"/>
          </a:xfrm>
          <a:custGeom>
            <a:avLst/>
            <a:gdLst/>
            <a:ahLst/>
            <a:cxnLst/>
            <a:rect r="r" b="b" t="t" l="l"/>
            <a:pathLst>
              <a:path h="468889" w="468889">
                <a:moveTo>
                  <a:pt x="0" y="0"/>
                </a:moveTo>
                <a:lnTo>
                  <a:pt x="468889" y="0"/>
                </a:lnTo>
                <a:lnTo>
                  <a:pt x="468889" y="468888"/>
                </a:lnTo>
                <a:lnTo>
                  <a:pt x="0" y="4688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203558" y="725558"/>
            <a:ext cx="2132527" cy="374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76"/>
              </a:lnSpc>
            </a:pPr>
            <a:r>
              <a:rPr lang="en-US" b="true" sz="2125" spc="-110">
                <a:gradFill>
                  <a:gsLst>
                    <a:gs pos="0">
                      <a:srgbClr val="555555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Poppins Bold"/>
                <a:ea typeface="Poppins Bold"/>
                <a:cs typeface="Poppins Bold"/>
                <a:sym typeface="Poppins Bold"/>
              </a:rPr>
              <a:t>ArogyaYatra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0713" y="5873829"/>
            <a:ext cx="7513671" cy="2278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37"/>
              </a:lnSpc>
            </a:pPr>
            <a:r>
              <a:rPr lang="en-US" b="true" sz="10046" spc="-522">
                <a:gradFill>
                  <a:gsLst>
                    <a:gs pos="0">
                      <a:srgbClr val="555555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Poppins Bold"/>
                <a:ea typeface="Poppins Bold"/>
                <a:cs typeface="Poppins Bold"/>
                <a:sym typeface="Poppins Bold"/>
              </a:rPr>
              <a:t>Target Architecture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20713" y="1023055"/>
            <a:ext cx="5145623" cy="3511985"/>
            <a:chOff x="0" y="0"/>
            <a:chExt cx="1355226" cy="9249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55226" cy="924967"/>
            </a:xfrm>
            <a:custGeom>
              <a:avLst/>
              <a:gdLst/>
              <a:ahLst/>
              <a:cxnLst/>
              <a:rect r="r" b="b" t="t" l="l"/>
              <a:pathLst>
                <a:path h="924967" w="1355226">
                  <a:moveTo>
                    <a:pt x="76733" y="0"/>
                  </a:moveTo>
                  <a:lnTo>
                    <a:pt x="1278493" y="0"/>
                  </a:lnTo>
                  <a:cubicBezTo>
                    <a:pt x="1298844" y="0"/>
                    <a:pt x="1318361" y="8084"/>
                    <a:pt x="1332751" y="22475"/>
                  </a:cubicBezTo>
                  <a:cubicBezTo>
                    <a:pt x="1347142" y="36865"/>
                    <a:pt x="1355226" y="56382"/>
                    <a:pt x="1355226" y="76733"/>
                  </a:cubicBezTo>
                  <a:lnTo>
                    <a:pt x="1355226" y="848234"/>
                  </a:lnTo>
                  <a:cubicBezTo>
                    <a:pt x="1355226" y="868585"/>
                    <a:pt x="1347142" y="888102"/>
                    <a:pt x="1332751" y="902493"/>
                  </a:cubicBezTo>
                  <a:cubicBezTo>
                    <a:pt x="1318361" y="916883"/>
                    <a:pt x="1298844" y="924967"/>
                    <a:pt x="1278493" y="924967"/>
                  </a:cubicBezTo>
                  <a:lnTo>
                    <a:pt x="76733" y="924967"/>
                  </a:lnTo>
                  <a:cubicBezTo>
                    <a:pt x="34354" y="924967"/>
                    <a:pt x="0" y="890613"/>
                    <a:pt x="0" y="848234"/>
                  </a:cubicBezTo>
                  <a:lnTo>
                    <a:pt x="0" y="76733"/>
                  </a:lnTo>
                  <a:cubicBezTo>
                    <a:pt x="0" y="56382"/>
                    <a:pt x="8084" y="36865"/>
                    <a:pt x="22475" y="22475"/>
                  </a:cubicBezTo>
                  <a:cubicBezTo>
                    <a:pt x="36865" y="8084"/>
                    <a:pt x="56382" y="0"/>
                    <a:pt x="76733" y="0"/>
                  </a:cubicBezTo>
                  <a:close/>
                </a:path>
              </a:pathLst>
            </a:custGeom>
            <a:solidFill>
              <a:srgbClr val="BC4445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55226" cy="963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580258" y="2393344"/>
            <a:ext cx="5127483" cy="3511985"/>
            <a:chOff x="0" y="0"/>
            <a:chExt cx="1350448" cy="9249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50448" cy="924967"/>
            </a:xfrm>
            <a:custGeom>
              <a:avLst/>
              <a:gdLst/>
              <a:ahLst/>
              <a:cxnLst/>
              <a:rect r="r" b="b" t="t" l="l"/>
              <a:pathLst>
                <a:path h="924967" w="1350448">
                  <a:moveTo>
                    <a:pt x="77004" y="0"/>
                  </a:moveTo>
                  <a:lnTo>
                    <a:pt x="1273444" y="0"/>
                  </a:lnTo>
                  <a:cubicBezTo>
                    <a:pt x="1315972" y="0"/>
                    <a:pt x="1350448" y="34476"/>
                    <a:pt x="1350448" y="77004"/>
                  </a:cubicBezTo>
                  <a:lnTo>
                    <a:pt x="1350448" y="847963"/>
                  </a:lnTo>
                  <a:cubicBezTo>
                    <a:pt x="1350448" y="890491"/>
                    <a:pt x="1315972" y="924967"/>
                    <a:pt x="1273444" y="924967"/>
                  </a:cubicBezTo>
                  <a:lnTo>
                    <a:pt x="77004" y="924967"/>
                  </a:lnTo>
                  <a:cubicBezTo>
                    <a:pt x="34476" y="924967"/>
                    <a:pt x="0" y="890491"/>
                    <a:pt x="0" y="847963"/>
                  </a:cubicBezTo>
                  <a:lnTo>
                    <a:pt x="0" y="77004"/>
                  </a:lnTo>
                  <a:cubicBezTo>
                    <a:pt x="0" y="34476"/>
                    <a:pt x="34476" y="0"/>
                    <a:pt x="77004" y="0"/>
                  </a:cubicBezTo>
                  <a:close/>
                </a:path>
              </a:pathLst>
            </a:custGeom>
            <a:solidFill>
              <a:srgbClr val="F5F1EE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50448" cy="963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262376" y="3763633"/>
            <a:ext cx="5127483" cy="3511985"/>
            <a:chOff x="0" y="0"/>
            <a:chExt cx="1350448" cy="9249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50448" cy="924967"/>
            </a:xfrm>
            <a:custGeom>
              <a:avLst/>
              <a:gdLst/>
              <a:ahLst/>
              <a:cxnLst/>
              <a:rect r="r" b="b" t="t" l="l"/>
              <a:pathLst>
                <a:path h="924967" w="1350448">
                  <a:moveTo>
                    <a:pt x="77004" y="0"/>
                  </a:moveTo>
                  <a:lnTo>
                    <a:pt x="1273444" y="0"/>
                  </a:lnTo>
                  <a:cubicBezTo>
                    <a:pt x="1315972" y="0"/>
                    <a:pt x="1350448" y="34476"/>
                    <a:pt x="1350448" y="77004"/>
                  </a:cubicBezTo>
                  <a:lnTo>
                    <a:pt x="1350448" y="847963"/>
                  </a:lnTo>
                  <a:cubicBezTo>
                    <a:pt x="1350448" y="890491"/>
                    <a:pt x="1315972" y="924967"/>
                    <a:pt x="1273444" y="924967"/>
                  </a:cubicBezTo>
                  <a:lnTo>
                    <a:pt x="77004" y="924967"/>
                  </a:lnTo>
                  <a:cubicBezTo>
                    <a:pt x="34476" y="924967"/>
                    <a:pt x="0" y="890491"/>
                    <a:pt x="0" y="847963"/>
                  </a:cubicBezTo>
                  <a:lnTo>
                    <a:pt x="0" y="77004"/>
                  </a:lnTo>
                  <a:cubicBezTo>
                    <a:pt x="0" y="34476"/>
                    <a:pt x="34476" y="0"/>
                    <a:pt x="77004" y="0"/>
                  </a:cubicBezTo>
                  <a:close/>
                </a:path>
              </a:pathLst>
            </a:custGeom>
            <a:solidFill>
              <a:srgbClr val="F5F1EE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50448" cy="963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350760" y="1317275"/>
            <a:ext cx="3472588" cy="55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76"/>
              </a:lnSpc>
            </a:pPr>
            <a:r>
              <a:rPr lang="en-US" b="true" sz="3054" spc="-158">
                <a:solidFill>
                  <a:srgbClr val="F5F1EE"/>
                </a:solidFill>
                <a:latin typeface="Poppins Bold"/>
                <a:ea typeface="Poppins Bold"/>
                <a:cs typeface="Poppins Bold"/>
                <a:sym typeface="Poppins Bold"/>
              </a:rPr>
              <a:t>Experience Layer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06322" y="2687563"/>
            <a:ext cx="3472588" cy="55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76"/>
              </a:lnSpc>
            </a:pPr>
            <a:r>
              <a:rPr lang="en-US" b="true" sz="3054" spc="-158">
                <a:gradFill>
                  <a:gsLst>
                    <a:gs pos="0">
                      <a:srgbClr val="555555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Poppins Bold"/>
                <a:ea typeface="Poppins Bold"/>
                <a:cs typeface="Poppins Bold"/>
                <a:sym typeface="Poppins Bold"/>
              </a:rPr>
              <a:t>Orchestration Core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88440" y="4057852"/>
            <a:ext cx="3472588" cy="55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76"/>
              </a:lnSpc>
            </a:pPr>
            <a:r>
              <a:rPr lang="en-US" b="true" sz="3054" spc="-158">
                <a:gradFill>
                  <a:gsLst>
                    <a:gs pos="0">
                      <a:srgbClr val="555555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Poppins Bold"/>
                <a:ea typeface="Poppins Bold"/>
                <a:cs typeface="Poppins Bold"/>
                <a:sym typeface="Poppins Bold"/>
              </a:rPr>
              <a:t>Data &amp; Memory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50760" y="2251956"/>
            <a:ext cx="4252610" cy="1268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sz="1798" i="true" spc="-93">
                <a:solidFill>
                  <a:srgbClr val="F5F1EE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Boards, Chat Interface, Virtual Care Portal → Unified patient and provider touchpoints with role-based access and responsive design.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06322" y="3622245"/>
            <a:ext cx="4198190" cy="1268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sz="1798" i="true" spc="-93">
                <a:solidFill>
                  <a:srgbClr val="868686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Context Loader, Intent Router, LLM Planner → API Layer feeds into intelligent orchestration with specialist agent dispatch and policy enforcement.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88440" y="4992534"/>
            <a:ext cx="4198190" cy="1268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sz="1798" i="true" spc="-93">
                <a:solidFill>
                  <a:srgbClr val="868686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RAG Pipeline, Session Memory, Audit Logs → Persistent retrieval, conversation continuity, and compliance-ready logging for enterprise healthcare.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0713" y="8617616"/>
            <a:ext cx="12746153" cy="64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sz="1798" i="true" spc="-93">
                <a:solidFill>
                  <a:srgbClr val="868686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Target state enables adaptive AI orchestration with retrieval-augmented generation, persistent memory, and full audit compliance.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DAHH1ws-z3U</dc:identifier>
  <dcterms:modified xsi:type="dcterms:W3CDTF">2011-08-01T06:04:30Z</dcterms:modified>
  <cp:revision>1</cp:revision>
</cp:coreProperties>
</file>